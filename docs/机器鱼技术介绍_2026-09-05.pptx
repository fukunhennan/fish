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3200400" cy="182880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l"/>
            <a:r>
              <a:rPr sz="900" b="1">
                <a:solidFill>
                  <a:srgbClr val="1E8977"/>
                </a:solidFill>
                <a:latin typeface="Microsoft YaHei"/>
              </a:rPr>
              <a:t>01 / 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9496"/>
            <a:ext cx="10972800" cy="411480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l"/>
            <a:r>
              <a:rPr sz="2400" b="1">
                <a:solidFill>
                  <a:srgbClr val="1E2528"/>
                </a:solidFill>
                <a:latin typeface="Microsoft YaHei"/>
              </a:rPr>
              <a:t>项目是什么：一套机器鱼控制中枢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87552"/>
            <a:ext cx="10789920" cy="228600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l"/>
            <a:r>
              <a:rPr sz="1100" b="0">
                <a:solidFill>
                  <a:srgbClr val="AAB4B5"/>
                </a:solidFill>
                <a:latin typeface="Microsoft YaHei"/>
              </a:rPr>
              <a:t>核心价值：把设备、视觉和用户操作统一到一条链路。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89888"/>
            <a:ext cx="11173968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499616"/>
            <a:ext cx="2926080" cy="228600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E2528"/>
                </a:solidFill>
                <a:latin typeface="Microsoft YaHei"/>
              </a:rPr>
              <a:t>机器鱼中央控制系统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93008" y="1810512"/>
            <a:ext cx="519379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84448" y="1856231"/>
            <a:ext cx="5010912" cy="228600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3D6A9E"/>
                </a:solidFill>
                <a:latin typeface="Microsoft YaHei"/>
              </a:rPr>
              <a:t>用户端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2103120"/>
            <a:ext cx="1325880" cy="365760"/>
          </a:xfrm>
          <a:prstGeom prst="roundRect">
            <a:avLst>
              <a:gd name="adj" fmla="val 8000"/>
            </a:avLst>
          </a:prstGeom>
          <a:solidFill>
            <a:srgbClr val="EEF5FD"/>
          </a:solidFill>
          <a:ln w="1016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13632" y="2121408"/>
            <a:ext cx="1271016" cy="329184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1E2528"/>
                </a:solidFill>
                <a:latin typeface="Microsoft YaHei"/>
              </a:rPr>
              <a:t>React GUI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103120"/>
            <a:ext cx="1325880" cy="365760"/>
          </a:xfrm>
          <a:prstGeom prst="roundRect">
            <a:avLst>
              <a:gd name="adj" fmla="val 8000"/>
            </a:avLst>
          </a:prstGeom>
          <a:solidFill>
            <a:srgbClr val="EEF5FD"/>
          </a:solidFill>
          <a:ln w="1016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68112" y="2121408"/>
            <a:ext cx="1271016" cy="329184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1E2528"/>
                </a:solidFill>
                <a:latin typeface="Microsoft YaHei"/>
              </a:rPr>
              <a:t>登录 / 选择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2103120"/>
            <a:ext cx="1325880" cy="365760"/>
          </a:xfrm>
          <a:prstGeom prst="roundRect">
            <a:avLst>
              <a:gd name="adj" fmla="val 8000"/>
            </a:avLst>
          </a:prstGeom>
          <a:solidFill>
            <a:srgbClr val="EEF5FD"/>
          </a:solidFill>
          <a:ln w="1016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22592" y="2121408"/>
            <a:ext cx="1271016" cy="329184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1E2528"/>
                </a:solidFill>
                <a:latin typeface="Microsoft YaHei"/>
              </a:rPr>
              <a:t>手动 / 视觉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93008" y="2880360"/>
            <a:ext cx="519379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4448" y="2926079"/>
            <a:ext cx="5010912" cy="228600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1E8977"/>
                </a:solidFill>
                <a:latin typeface="Microsoft YaHei"/>
              </a:rPr>
              <a:t>Go 控制中枢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86200" y="3172968"/>
            <a:ext cx="1325880" cy="365760"/>
          </a:xfrm>
          <a:prstGeom prst="roundRect">
            <a:avLst>
              <a:gd name="adj" fmla="val 8000"/>
            </a:avLst>
          </a:prstGeom>
          <a:solidFill>
            <a:srgbClr val="E1F3ED"/>
          </a:solidFill>
          <a:ln w="1016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13632" y="3191256"/>
            <a:ext cx="1271016" cy="329184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1E2528"/>
                </a:solidFill>
                <a:latin typeface="Microsoft YaHei"/>
              </a:rPr>
              <a:t>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3172968"/>
            <a:ext cx="1325880" cy="365760"/>
          </a:xfrm>
          <a:prstGeom prst="roundRect">
            <a:avLst>
              <a:gd name="adj" fmla="val 8000"/>
            </a:avLst>
          </a:prstGeom>
          <a:solidFill>
            <a:srgbClr val="E1F3ED"/>
          </a:solidFill>
          <a:ln w="1016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68112" y="3191256"/>
            <a:ext cx="1271016" cy="329184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1E2528"/>
                </a:solidFill>
                <a:latin typeface="Microsoft YaHei"/>
              </a:rPr>
              <a:t>权限 / 租约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95160" y="3172968"/>
            <a:ext cx="1325880" cy="365760"/>
          </a:xfrm>
          <a:prstGeom prst="roundRect">
            <a:avLst>
              <a:gd name="adj" fmla="val 8000"/>
            </a:avLst>
          </a:prstGeom>
          <a:solidFill>
            <a:srgbClr val="E1F3ED"/>
          </a:solidFill>
          <a:ln w="1016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22592" y="3191256"/>
            <a:ext cx="1271016" cy="329184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1E2528"/>
                </a:solidFill>
                <a:latin typeface="Microsoft YaHei"/>
              </a:rPr>
              <a:t>设备队列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" y="3977639"/>
            <a:ext cx="5193792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4023359"/>
            <a:ext cx="5010912" cy="228600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B3711F"/>
                </a:solidFill>
                <a:latin typeface="Microsoft YaHei"/>
              </a:rPr>
              <a:t>Python 视觉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89888" y="4389120"/>
            <a:ext cx="1325880" cy="438912"/>
          </a:xfrm>
          <a:prstGeom prst="roundRect">
            <a:avLst>
              <a:gd name="adj" fmla="val 8000"/>
            </a:avLst>
          </a:prstGeom>
          <a:solidFill>
            <a:srgbClr val="FFF7E6"/>
          </a:solidFill>
          <a:ln w="1016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4407407"/>
            <a:ext cx="1271016" cy="402336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100" b="0">
                <a:solidFill>
                  <a:srgbClr val="1E2528"/>
                </a:solidFill>
                <a:latin typeface="Microsoft YaHei"/>
              </a:rPr>
              <a:t>相机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4389120"/>
            <a:ext cx="1325880" cy="438912"/>
          </a:xfrm>
          <a:prstGeom prst="roundRect">
            <a:avLst>
              <a:gd name="adj" fmla="val 8000"/>
            </a:avLst>
          </a:prstGeom>
          <a:solidFill>
            <a:srgbClr val="FFF7E6"/>
          </a:solidFill>
          <a:ln w="1016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99232" y="4407407"/>
            <a:ext cx="1271016" cy="402336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100" b="0">
                <a:solidFill>
                  <a:srgbClr val="1E2528"/>
                </a:solidFill>
                <a:latin typeface="Microsoft YaHei"/>
              </a:rPr>
              <a:t>YOLO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53712" y="4389120"/>
            <a:ext cx="1325880" cy="438912"/>
          </a:xfrm>
          <a:prstGeom prst="roundRect">
            <a:avLst>
              <a:gd name="adj" fmla="val 8000"/>
            </a:avLst>
          </a:prstGeom>
          <a:solidFill>
            <a:srgbClr val="FFF7E6"/>
          </a:solidFill>
          <a:ln w="1016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81144" y="4407407"/>
            <a:ext cx="1271016" cy="402336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1E2528"/>
                </a:solidFill>
                <a:latin typeface="Microsoft YaHei"/>
              </a:rPr>
              <a:t>路径 / PID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76272" y="4983480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 w="1016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03703" y="5001768"/>
            <a:ext cx="1271016" cy="310896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900" b="0">
                <a:solidFill>
                  <a:srgbClr val="1E2528"/>
                </a:solidFill>
                <a:latin typeface="Microsoft YaHei"/>
              </a:rPr>
              <a:t>跟踪 / 标定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49039" y="4983480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 w="1016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76472" y="5001768"/>
            <a:ext cx="1271016" cy="310896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900" b="0">
                <a:solidFill>
                  <a:srgbClr val="1E2528"/>
                </a:solidFill>
                <a:latin typeface="Microsoft YaHei"/>
              </a:rPr>
              <a:t>WebRTC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29400" y="3977639"/>
            <a:ext cx="48920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4023359"/>
            <a:ext cx="4709159" cy="228600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B44852"/>
                </a:solidFill>
                <a:latin typeface="Microsoft YaHei"/>
              </a:rPr>
              <a:t>ESP32 机器鱼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67728" y="4389120"/>
            <a:ext cx="1234440" cy="438912"/>
          </a:xfrm>
          <a:prstGeom prst="roundRect">
            <a:avLst>
              <a:gd name="adj" fmla="val 8000"/>
            </a:avLst>
          </a:prstGeom>
          <a:solidFill>
            <a:srgbClr val="FDEFF1"/>
          </a:solidFill>
          <a:ln w="1016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95160" y="4407407"/>
            <a:ext cx="1179576" cy="402336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100" b="0">
                <a:solidFill>
                  <a:srgbClr val="1E2528"/>
                </a:solidFill>
                <a:latin typeface="Microsoft YaHei"/>
              </a:rPr>
              <a:t>认证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30768" y="4389120"/>
            <a:ext cx="1234440" cy="438912"/>
          </a:xfrm>
          <a:prstGeom prst="roundRect">
            <a:avLst>
              <a:gd name="adj" fmla="val 8000"/>
            </a:avLst>
          </a:prstGeom>
          <a:solidFill>
            <a:srgbClr val="FDEFF1"/>
          </a:solidFill>
          <a:ln w="1016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8200" y="4407407"/>
            <a:ext cx="1179576" cy="402336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100" b="0">
                <a:solidFill>
                  <a:srgbClr val="1E2528"/>
                </a:solidFill>
                <a:latin typeface="Microsoft YaHei"/>
              </a:rPr>
              <a:t>运动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93808" y="4389120"/>
            <a:ext cx="1234440" cy="438912"/>
          </a:xfrm>
          <a:prstGeom prst="roundRect">
            <a:avLst>
              <a:gd name="adj" fmla="val 8000"/>
            </a:avLst>
          </a:prstGeom>
          <a:solidFill>
            <a:srgbClr val="FDEFF1"/>
          </a:solidFill>
          <a:ln w="1016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21240" y="4407407"/>
            <a:ext cx="1179576" cy="402336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100" b="0">
                <a:solidFill>
                  <a:srgbClr val="1E2528"/>
                </a:solidFill>
                <a:latin typeface="Microsoft YaHei"/>
              </a:rPr>
              <a:t>心跳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99248" y="4983480"/>
            <a:ext cx="1234440" cy="347472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 w="1016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26679" y="5001768"/>
            <a:ext cx="1179576" cy="310896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900" b="0">
                <a:solidFill>
                  <a:srgbClr val="1E2528"/>
                </a:solidFill>
                <a:latin typeface="Microsoft YaHei"/>
              </a:rPr>
              <a:t>WebSocket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62288" y="4983480"/>
            <a:ext cx="1234440" cy="347472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 w="1016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89719" y="5001768"/>
            <a:ext cx="1179576" cy="310896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900" b="0">
                <a:solidFill>
                  <a:srgbClr val="1E2528"/>
                </a:solidFill>
                <a:latin typeface="Microsoft YaHei"/>
              </a:rPr>
              <a:t>OTA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089904" y="2679192"/>
            <a:ext cx="0" cy="201168"/>
          </a:xfrm>
          <a:prstGeom prst="line">
            <a:avLst/>
          </a:prstGeom>
          <a:ln w="22860">
            <a:solidFill>
              <a:srgbClr val="3D6A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089904" y="3749039"/>
            <a:ext cx="0" cy="228600"/>
          </a:xfrm>
          <a:prstGeom prst="line">
            <a:avLst/>
          </a:prstGeom>
          <a:ln w="22860">
            <a:solidFill>
              <a:srgbClr val="1E8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3621024" y="3749039"/>
            <a:ext cx="1819656" cy="228600"/>
          </a:xfrm>
          <a:prstGeom prst="line">
            <a:avLst/>
          </a:prstGeom>
          <a:ln w="19050">
            <a:solidFill>
              <a:srgbClr val="B371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748272" y="3749039"/>
            <a:ext cx="2304288" cy="228600"/>
          </a:xfrm>
          <a:prstGeom prst="line">
            <a:avLst/>
          </a:prstGeom>
          <a:ln w="19050">
            <a:solidFill>
              <a:srgbClr val="B448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236208" y="2724912"/>
            <a:ext cx="457200" cy="164592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l"/>
            <a:r>
              <a:rPr sz="900" b="1">
                <a:solidFill>
                  <a:srgbClr val="3D6A9E"/>
                </a:solidFill>
                <a:latin typeface="Microsoft YaHei"/>
              </a:rPr>
              <a:t>意图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36208" y="3785615"/>
            <a:ext cx="457200" cy="164592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l"/>
            <a:r>
              <a:rPr sz="900" b="1">
                <a:solidFill>
                  <a:srgbClr val="1E8977"/>
                </a:solidFill>
                <a:latin typeface="Microsoft YaHei"/>
              </a:rPr>
              <a:t>调度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12064" y="6473952"/>
            <a:ext cx="11173968" cy="0"/>
          </a:xfrm>
          <a:prstGeom prst="line">
            <a:avLst/>
          </a:prstGeom>
          <a:ln w="8890">
            <a:solidFill>
              <a:srgbClr val="AAB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30352" y="6528816"/>
            <a:ext cx="2286000" cy="164592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l"/>
            <a:r>
              <a:rPr sz="800" b="1">
                <a:solidFill>
                  <a:srgbClr val="AAB4B5"/>
                </a:solidFill>
                <a:latin typeface="Microsoft YaHei"/>
              </a:rPr>
              <a:t>FISH CONTROL SYSTEM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09960" y="6519672"/>
            <a:ext cx="502920" cy="182880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r"/>
            <a:r>
              <a:rPr sz="900" b="1">
                <a:solidFill>
                  <a:srgbClr val="AAB4B5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3200400" cy="182880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l"/>
            <a:r>
              <a:rPr sz="900" b="1">
                <a:solidFill>
                  <a:srgbClr val="1E8977"/>
                </a:solidFill>
                <a:latin typeface="Microsoft YaHei"/>
              </a:rPr>
              <a:t>02 / 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9496"/>
            <a:ext cx="10972800" cy="411480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l"/>
            <a:r>
              <a:rPr sz="2400" b="1">
                <a:solidFill>
                  <a:srgbClr val="1E2528"/>
                </a:solidFill>
                <a:latin typeface="Microsoft YaHei"/>
              </a:rPr>
              <a:t>系统怎么工作：感知和控制形成闭环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87552"/>
            <a:ext cx="10789920" cy="228600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l"/>
            <a:r>
              <a:rPr sz="1100" b="0">
                <a:solidFill>
                  <a:srgbClr val="AAB4B5"/>
                </a:solidFill>
                <a:latin typeface="Microsoft YaHei"/>
              </a:rPr>
              <a:t>关键不是单向发命令，而是“识别 → 控制 → 执行 → 反馈”。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1106424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645920" cy="228600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l"/>
            <a:r>
              <a:rPr sz="1300" b="1">
                <a:solidFill>
                  <a:srgbClr val="B3711F"/>
                </a:solidFill>
                <a:latin typeface="Microsoft YaHei"/>
              </a:rPr>
              <a:t>视觉控制链路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240280"/>
            <a:ext cx="1691640" cy="841248"/>
          </a:xfrm>
          <a:prstGeom prst="roundRect">
            <a:avLst>
              <a:gd name="adj" fmla="val 8000"/>
            </a:avLst>
          </a:prstGeom>
          <a:solidFill>
            <a:srgbClr val="EEF5FD"/>
          </a:solidFill>
          <a:ln w="1016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58568"/>
            <a:ext cx="1636776" cy="804672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400" b="0">
                <a:solidFill>
                  <a:srgbClr val="1E2528"/>
                </a:solidFill>
                <a:latin typeface="Microsoft YaHei"/>
              </a:rPr>
              <a:t>摄像头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273552"/>
            <a:ext cx="1691640" cy="201168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AAB4B5"/>
                </a:solidFill>
                <a:latin typeface="Microsoft YaHei"/>
              </a:rPr>
              <a:t>采集画面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51176" y="2660904"/>
            <a:ext cx="420624" cy="0"/>
          </a:xfrm>
          <a:prstGeom prst="line">
            <a:avLst/>
          </a:prstGeom>
          <a:ln w="22860">
            <a:solidFill>
              <a:srgbClr val="3D6A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71800" y="2240280"/>
            <a:ext cx="1691640" cy="841248"/>
          </a:xfrm>
          <a:prstGeom prst="roundRect">
            <a:avLst>
              <a:gd name="adj" fmla="val 8000"/>
            </a:avLst>
          </a:prstGeom>
          <a:solidFill>
            <a:srgbClr val="FFF7E6"/>
          </a:solidFill>
          <a:ln w="1016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2258568"/>
            <a:ext cx="1636776" cy="804672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400" b="0">
                <a:solidFill>
                  <a:srgbClr val="1E2528"/>
                </a:solidFill>
                <a:latin typeface="Microsoft YaHei"/>
              </a:rPr>
              <a:t>YOLO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273552"/>
            <a:ext cx="1691640" cy="201168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AAB4B5"/>
                </a:solidFill>
                <a:latin typeface="Microsoft YaHei"/>
              </a:rPr>
              <a:t>识别 / 跟踪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81728" y="2660904"/>
            <a:ext cx="420624" cy="0"/>
          </a:xfrm>
          <a:prstGeom prst="line">
            <a:avLst/>
          </a:prstGeom>
          <a:ln w="22860">
            <a:solidFill>
              <a:srgbClr val="B371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02352" y="2240280"/>
            <a:ext cx="1691640" cy="841248"/>
          </a:xfrm>
          <a:prstGeom prst="roundRect">
            <a:avLst>
              <a:gd name="adj" fmla="val 8000"/>
            </a:avLst>
          </a:prstGeom>
          <a:solidFill>
            <a:srgbClr val="E1F3ED"/>
          </a:solidFill>
          <a:ln w="1016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9784" y="2258568"/>
            <a:ext cx="1636776" cy="804672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400" b="0">
                <a:solidFill>
                  <a:srgbClr val="1E2528"/>
                </a:solidFill>
                <a:latin typeface="Microsoft YaHei"/>
              </a:rPr>
              <a:t>路径控制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2352" y="3273552"/>
            <a:ext cx="1691640" cy="201168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AAB4B5"/>
                </a:solidFill>
                <a:latin typeface="Microsoft YaHei"/>
              </a:rPr>
              <a:t>坐标 / PID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12280" y="2660904"/>
            <a:ext cx="420624" cy="0"/>
          </a:xfrm>
          <a:prstGeom prst="line">
            <a:avLst/>
          </a:prstGeom>
          <a:ln w="22860">
            <a:solidFill>
              <a:srgbClr val="1E8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232904" y="2240280"/>
            <a:ext cx="1691640" cy="841248"/>
          </a:xfrm>
          <a:prstGeom prst="roundRect">
            <a:avLst>
              <a:gd name="adj" fmla="val 8000"/>
            </a:avLst>
          </a:prstGeom>
          <a:solidFill>
            <a:srgbClr val="FDEFF1"/>
          </a:solidFill>
          <a:ln w="1016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0336" y="2258568"/>
            <a:ext cx="1636776" cy="804672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400" b="0">
                <a:solidFill>
                  <a:srgbClr val="1E2528"/>
                </a:solidFill>
                <a:latin typeface="Microsoft YaHei"/>
              </a:rPr>
              <a:t>Go 控制器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3273552"/>
            <a:ext cx="1691640" cy="201168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AAB4B5"/>
                </a:solidFill>
                <a:latin typeface="Microsoft YaHei"/>
              </a:rPr>
              <a:t>权限 / 队列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42832" y="2660904"/>
            <a:ext cx="420624" cy="0"/>
          </a:xfrm>
          <a:prstGeom prst="line">
            <a:avLst/>
          </a:prstGeom>
          <a:ln w="22860">
            <a:solidFill>
              <a:srgbClr val="B448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363456" y="2240280"/>
            <a:ext cx="16916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90888" y="2258568"/>
            <a:ext cx="1636776" cy="804672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400" b="0">
                <a:solidFill>
                  <a:srgbClr val="1E2528"/>
                </a:solidFill>
                <a:latin typeface="Microsoft YaHei"/>
              </a:rPr>
              <a:t>ESP32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3273552"/>
            <a:ext cx="1691640" cy="201168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AAB4B5"/>
                </a:solidFill>
                <a:latin typeface="Microsoft YaHei"/>
              </a:rPr>
              <a:t>运动执行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691640" y="3611880"/>
            <a:ext cx="8503920" cy="0"/>
          </a:xfrm>
          <a:prstGeom prst="line">
            <a:avLst/>
          </a:prstGeom>
          <a:ln w="15240">
            <a:solidFill>
              <a:srgbClr val="AAB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794760" y="3685032"/>
            <a:ext cx="4572000" cy="228600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AAB4B5"/>
                </a:solidFill>
                <a:latin typeface="Microsoft YaHei"/>
              </a:rPr>
              <a:t>状态反馈：heartbeat / state / command.result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370832"/>
            <a:ext cx="4800600" cy="868680"/>
          </a:xfrm>
          <a:prstGeom prst="roundRect">
            <a:avLst>
              <a:gd name="adj" fmla="val 8000"/>
            </a:avLst>
          </a:prstGeom>
          <a:solidFill>
            <a:srgbClr val="FDEFF1"/>
          </a:solidFill>
          <a:ln w="10160">
            <a:solidFill>
              <a:srgbClr val="B44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4544568"/>
            <a:ext cx="914400" cy="210312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l"/>
            <a:r>
              <a:rPr sz="1300" b="1">
                <a:solidFill>
                  <a:srgbClr val="B44852"/>
                </a:solidFill>
                <a:latin typeface="Microsoft YaHei"/>
              </a:rPr>
              <a:t>身份绑定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76272" y="4507992"/>
            <a:ext cx="3200400" cy="274320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l"/>
            <a:r>
              <a:rPr sz="1200" b="0">
                <a:solidFill>
                  <a:srgbClr val="1E2528"/>
                </a:solidFill>
                <a:latin typeface="Microsoft YaHei"/>
              </a:rPr>
              <a:t>视觉目标 ID ≠ 物理 deviceId，必须显式绑定。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19088" y="4370832"/>
            <a:ext cx="4800600" cy="868680"/>
          </a:xfrm>
          <a:prstGeom prst="roundRect">
            <a:avLst>
              <a:gd name="adj" fmla="val 8000"/>
            </a:avLst>
          </a:prstGeom>
          <a:solidFill>
            <a:srgbClr val="E1F3ED"/>
          </a:solidFill>
          <a:ln w="10160">
            <a:solidFill>
              <a:srgbClr val="1E8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56832" y="4544568"/>
            <a:ext cx="914400" cy="210312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E8977"/>
                </a:solidFill>
                <a:latin typeface="Microsoft YaHei"/>
              </a:rPr>
              <a:t>停止条件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9248" y="4507992"/>
            <a:ext cx="3246120" cy="274320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l"/>
            <a:r>
              <a:rPr sz="1200" b="0">
                <a:solidFill>
                  <a:srgbClr val="1E2528"/>
                </a:solidFill>
                <a:latin typeface="Microsoft YaHei"/>
              </a:rPr>
              <a:t>目标丢失、会话过期、失帧或断线，立即停止。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12064" y="6473952"/>
            <a:ext cx="11173968" cy="0"/>
          </a:xfrm>
          <a:prstGeom prst="line">
            <a:avLst/>
          </a:prstGeom>
          <a:ln w="8890">
            <a:solidFill>
              <a:srgbClr val="AAB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30352" y="6528816"/>
            <a:ext cx="2286000" cy="164592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l"/>
            <a:r>
              <a:rPr sz="800" b="1">
                <a:solidFill>
                  <a:srgbClr val="AAB4B5"/>
                </a:solidFill>
                <a:latin typeface="Microsoft YaHei"/>
              </a:rPr>
              <a:t>FISH CONTROL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519672"/>
            <a:ext cx="502920" cy="182880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r"/>
            <a:r>
              <a:rPr sz="900" b="1">
                <a:solidFill>
                  <a:srgbClr val="AAB4B5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3200400" cy="182880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l"/>
            <a:r>
              <a:rPr sz="900" b="1">
                <a:solidFill>
                  <a:srgbClr val="1E8977"/>
                </a:solidFill>
                <a:latin typeface="Microsoft YaHei"/>
              </a:rPr>
              <a:t>03 / KEY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9496"/>
            <a:ext cx="10972800" cy="411480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l"/>
            <a:r>
              <a:rPr sz="2400" b="1">
                <a:solidFill>
                  <a:srgbClr val="1E2528"/>
                </a:solidFill>
                <a:latin typeface="Microsoft YaHei"/>
              </a:rPr>
              <a:t>关键技术与项目成果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87552"/>
            <a:ext cx="10789920" cy="228600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l"/>
            <a:r>
              <a:rPr sz="1100" b="0">
                <a:solidFill>
                  <a:srgbClr val="AAB4B5"/>
                </a:solidFill>
                <a:latin typeface="Microsoft YaHei"/>
              </a:rPr>
              <a:t>汇报时只需要记住下面四个关键词。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08760"/>
            <a:ext cx="52578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54480"/>
            <a:ext cx="5074920" cy="228600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1E8977"/>
                </a:solidFill>
                <a:latin typeface="Microsoft YaHei"/>
              </a:rPr>
              <a:t>关键技术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2011680"/>
            <a:ext cx="1261872" cy="384048"/>
          </a:xfrm>
          <a:prstGeom prst="roundRect">
            <a:avLst>
              <a:gd name="adj" fmla="val 8000"/>
            </a:avLst>
          </a:prstGeom>
          <a:solidFill>
            <a:srgbClr val="E8E8E8"/>
          </a:solidFill>
          <a:ln w="1016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29968"/>
            <a:ext cx="1207007" cy="347472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1E2528"/>
                </a:solidFill>
                <a:latin typeface="Microsoft YaHei"/>
              </a:rPr>
              <a:t>统一入口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2039112"/>
            <a:ext cx="3063240" cy="310896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l"/>
            <a:r>
              <a:rPr sz="1100" b="0">
                <a:solidFill>
                  <a:srgbClr val="1E2528"/>
                </a:solidFill>
                <a:latin typeface="Microsoft YaHei"/>
              </a:rPr>
              <a:t>浏览器不直连 ESP32，Go 统一管理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2670048"/>
            <a:ext cx="1261872" cy="384048"/>
          </a:xfrm>
          <a:prstGeom prst="roundRect">
            <a:avLst>
              <a:gd name="adj" fmla="val 8000"/>
            </a:avLst>
          </a:prstGeom>
          <a:solidFill>
            <a:srgbClr val="E8E8E8"/>
          </a:solidFill>
          <a:ln w="1016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88336"/>
            <a:ext cx="1207007" cy="347472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1E2528"/>
                </a:solidFill>
                <a:latin typeface="Microsoft YaHei"/>
              </a:rPr>
              <a:t>控制安全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2697479"/>
            <a:ext cx="3063240" cy="310896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l"/>
            <a:r>
              <a:rPr sz="1100" b="0">
                <a:solidFill>
                  <a:srgbClr val="1E2528"/>
                </a:solidFill>
                <a:latin typeface="Microsoft YaHei"/>
              </a:rPr>
              <a:t>权限、租约、限幅、急停、超时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3328416"/>
            <a:ext cx="1261872" cy="384048"/>
          </a:xfrm>
          <a:prstGeom prst="roundRect">
            <a:avLst>
              <a:gd name="adj" fmla="val 8000"/>
            </a:avLst>
          </a:prstGeom>
          <a:solidFill>
            <a:srgbClr val="E8E8E8"/>
          </a:solidFill>
          <a:ln w="1016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346704"/>
            <a:ext cx="1207007" cy="347472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1E2528"/>
                </a:solidFill>
                <a:latin typeface="Microsoft YaHei"/>
              </a:rPr>
              <a:t>视觉闭环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95728" y="3355848"/>
            <a:ext cx="3063240" cy="310896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l"/>
            <a:r>
              <a:rPr sz="1100" b="0">
                <a:solidFill>
                  <a:srgbClr val="1E2528"/>
                </a:solidFill>
                <a:latin typeface="Microsoft YaHei"/>
              </a:rPr>
              <a:t>相机 + YOLO + 路径控制 + 设备反馈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" y="3986784"/>
            <a:ext cx="1261872" cy="384048"/>
          </a:xfrm>
          <a:prstGeom prst="roundRect">
            <a:avLst>
              <a:gd name="adj" fmla="val 8000"/>
            </a:avLst>
          </a:prstGeom>
          <a:solidFill>
            <a:srgbClr val="E8E8E8"/>
          </a:solidFill>
          <a:ln w="1016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005072"/>
            <a:ext cx="1207007" cy="347472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1E2528"/>
                </a:solidFill>
                <a:latin typeface="Microsoft YaHei"/>
              </a:rPr>
              <a:t>可扩展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4014216"/>
            <a:ext cx="3063240" cy="310896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l"/>
            <a:r>
              <a:rPr sz="1100" b="0">
                <a:solidFill>
                  <a:srgbClr val="1E2528"/>
                </a:solidFill>
                <a:latin typeface="Microsoft YaHei"/>
              </a:rPr>
              <a:t>WebSocket、WebRTC、OTA、图形化编程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508760"/>
            <a:ext cx="52578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79" y="1554480"/>
            <a:ext cx="5074920" cy="228600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3D6A9E"/>
                </a:solidFill>
                <a:latin typeface="Microsoft YaHei"/>
              </a:rPr>
              <a:t>当前状态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2011680"/>
            <a:ext cx="1353312" cy="475488"/>
          </a:xfrm>
          <a:prstGeom prst="roundRect">
            <a:avLst>
              <a:gd name="adj" fmla="val 8000"/>
            </a:avLst>
          </a:prstGeom>
          <a:solidFill>
            <a:srgbClr val="E1F3ED"/>
          </a:solidFill>
          <a:ln w="1016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2029968"/>
            <a:ext cx="1298448" cy="438912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1E8977"/>
                </a:solidFill>
                <a:latin typeface="Microsoft YaHei"/>
              </a:rPr>
              <a:t>自动化测试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057400"/>
            <a:ext cx="2971800" cy="329184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l"/>
            <a:r>
              <a:rPr sz="1100" b="0">
                <a:solidFill>
                  <a:srgbClr val="1E2528"/>
                </a:solidFill>
                <a:latin typeface="Microsoft YaHei"/>
              </a:rPr>
              <a:t>Go / React / Python 已通过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2798064"/>
            <a:ext cx="1353312" cy="475488"/>
          </a:xfrm>
          <a:prstGeom prst="roundRect">
            <a:avLst>
              <a:gd name="adj" fmla="val 8000"/>
            </a:avLst>
          </a:prstGeom>
          <a:solidFill>
            <a:srgbClr val="EEF5FD"/>
          </a:solidFill>
          <a:ln w="1016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2816352"/>
            <a:ext cx="1298448" cy="438912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3D6A9E"/>
                </a:solidFill>
                <a:latin typeface="Microsoft YaHei"/>
              </a:rPr>
              <a:t>设备验证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2843784"/>
            <a:ext cx="2971800" cy="329184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l"/>
            <a:r>
              <a:rPr sz="1100" b="0">
                <a:solidFill>
                  <a:srgbClr val="1E2528"/>
                </a:solidFill>
                <a:latin typeface="Microsoft YaHei"/>
              </a:rPr>
              <a:t>停止 ACK、认证、重连已验证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3584448"/>
            <a:ext cx="1353312" cy="475488"/>
          </a:xfrm>
          <a:prstGeom prst="roundRect">
            <a:avLst>
              <a:gd name="adj" fmla="val 8000"/>
            </a:avLst>
          </a:prstGeom>
          <a:solidFill>
            <a:srgbClr val="FFF7E6"/>
          </a:solidFill>
          <a:ln w="1016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3602736"/>
            <a:ext cx="1298448" cy="438912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B3711F"/>
                </a:solidFill>
                <a:latin typeface="Microsoft YaHei"/>
              </a:rPr>
              <a:t>继续验收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3630168"/>
            <a:ext cx="2971800" cy="329184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l"/>
            <a:r>
              <a:rPr sz="1100" b="0">
                <a:solidFill>
                  <a:srgbClr val="1E2528"/>
                </a:solidFill>
                <a:latin typeface="Microsoft YaHei"/>
              </a:rPr>
              <a:t>断网停机、多鱼并发、公网视频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1560" y="5486400"/>
            <a:ext cx="10058400" cy="502920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 w="10160">
            <a:solidFill>
              <a:srgbClr val="1E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4440" y="5605272"/>
            <a:ext cx="9692640" cy="228600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ctr"/>
            <a:r>
              <a:rPr sz="1400" b="1">
                <a:solidFill>
                  <a:srgbClr val="1E8977"/>
                </a:solidFill>
                <a:latin typeface="Microsoft YaHei"/>
              </a:rPr>
              <a:t>最终结论：Go 把设备、视觉和用户控制收敛为一条可验证、可恢复、可扩展的链路。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12064" y="6473952"/>
            <a:ext cx="11173968" cy="0"/>
          </a:xfrm>
          <a:prstGeom prst="line">
            <a:avLst/>
          </a:prstGeom>
          <a:ln w="8890">
            <a:solidFill>
              <a:srgbClr val="AAB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30352" y="6528816"/>
            <a:ext cx="2286000" cy="164592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l"/>
            <a:r>
              <a:rPr sz="800" b="1">
                <a:solidFill>
                  <a:srgbClr val="AAB4B5"/>
                </a:solidFill>
                <a:latin typeface="Microsoft YaHei"/>
              </a:rPr>
              <a:t>FISH CONTROL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519672"/>
            <a:ext cx="502920" cy="182880"/>
          </a:xfrm>
          <a:prstGeom prst="rect">
            <a:avLst/>
          </a:prstGeom>
          <a:noFill/>
        </p:spPr>
        <p:txBody>
          <a:bodyPr wrap="square" lIns="32004" rIns="32004" tIns="9144" bIns="9144" anchor="ctr">
            <a:spAutoFit/>
          </a:bodyPr>
          <a:lstStyle/>
          <a:p>
            <a:pPr algn="r"/>
            <a:r>
              <a:rPr sz="900" b="1">
                <a:solidFill>
                  <a:srgbClr val="AAB4B5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